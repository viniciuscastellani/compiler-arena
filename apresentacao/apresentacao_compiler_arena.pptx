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os integrantes reais preenchendo os campos. Explique que a batalha é a saída visível de uma cadeia real de compilação, que será percorrida com o robô Alpha.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Diferencie o PDF das extensões: o PDF pede as etapas reais, API, arena e ticks; o pedido detalha tipos, escopos, três otimizações, GUI e slides. O PDF permite variações de sintaxe. Não executar código Python do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Siga cada seta: lexer gera tokens; parser gera AST; semântica anota; Builder gera quádruplas; otimizador cria nova IR; gerador resolve registradores e rótulos; VM emite comandos; arena resolve efeitos. Todos os quadros são editáveis.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fonte real de exemplos/alpha.robo. O mesmo robô fornece os tokens, AST, símbolo, IR, bytecode e batalha mostrados depois. O comentário foi omitido só para caber. Scan cede até o próximo tick e a direção pode envelhecer.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int→float e por que bool não é int em RoboLang. A divisão produz float, então x/=2 para um int é inválido. Toda declaração é inicializada de novo quando o fluxo passa por ela. Break e continue atuam no laço mais interno.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linha e coluna e a distinção entre lexema e valor. O lexer foi ampliado a partir do original, preservando cursor, máquina de estados e tokens. Não usa regex ou geradores. Floats, comentários e escapes estritos foram acrescentados.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árvore é gerada pelo parser real. Cada função representa um nível de precedência ou regra. O nó DECL é uma extensão da gramática original. Há recuperação em ; e }, teto de 50 diagnósticos e limite de profundidade de 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símbolo vem do relatório de Alpha. No escopo interno de um exemplo sombreado, o mesmo nome ganha outro ID. A inicialização resolve nomes antes da inserção do símbolo novo. A AST recebe meta.type e meta.symbol, consumidos pelo gerador de 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diagnóstico é produzido ao compilar o mesmo Alpha com fire(true). Nenhum bytecode válido é retornado. A GUI invalida resultados quando o texto muda e descarta respostas de revisões anteriores. O programa inválido não pode ser adicionado à batalha.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quatro primeiros registros são da inicialização e do movimento de Alpha. O rótulo seguinte inicia o while. Cada operando tem categoria explícita, tipo e valor; cada Quad tem origem. JZ e JMP codificam a decisão e o retorno, em vez de interpretar a 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comparação usa o prefixo real da IR de Alpha. As demais instruções ainda representam laço e combate. A contagem total inclui rótulos IR, portanto não deve ser confundida com instruções executáveis ou ganho de tempo. O exemplo isolado otimizacao.robo reduz 5 para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 log de regras aplicado em artefatos/alpha/optimizations.json. CFG identifica líderes e sucessores. Não atravessamos arestas com o ambiente de constantes. O orçamento de instruções explica por que menos instruções pode mudar a cronologia de uma batalha.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código é o bytecode real otimizado de Alpha. Os índices substituem rótulos e as leituras apontam constantes ou registradores. A VM valida JSON, mantém PC e memória própria e não importa o compilador. Source permite associar erro de execução ao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opcode consome orçamento, inclusive saltos e HALT. A emissão de um comando cede a VM. Scan é um comando, e seu resultado só entra no snapshot seguinte. Todos os ataques usam o início do tick; custos e dano são acumulados antes da eliminação.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real da interface HTML no Chromium headless. A esquerda está Alpha; a direita, a IR real. O navegador envia fonte para a API Python e descarta respostas de revisões anteriores. Não é um mockup. Amplie o aplicativo durante a demonstração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real da arena HTML após quatro ticks da mesma batalha Alpha/Beta. A única simulação vive no servidor Python; o canvas interpola snapshots e anima disparos com o alvo e o dano informados pelo servidor. A velocidade inicial é 1 tick por segundo. O renderizador inverte y para desenhar. A simulação usa coordenadas cartesianas. Mostre na demonstração os botões pausar e passo. Uma VM finalizada pode ser atingida fisicamente.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Resultado extraído do relatório unittest real, não de uma estimativa de cobertura. O teste gráfico verifica HTTP, descarte de resultado antigo, um passo e reinício. Abra a GUI e siga docs/defesa_demonstracao.md. O tempo reportado é da suíte, não desempenho das otimizações.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Encerre com os limites reais: não há propagação global, nem funções, nem física contínua além de trajetórias lineares por tick. Explicite a validação gráfica em Linux, sem afirmar teste Windows. Evoluções planejadas não estão implementadas. Use as perguntas e respostas da documentação para preparar a equipe.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411480"/>
          </a:xfrm>
          <a:prstGeom prst="rect">
            <a:avLst/>
          </a:prstGeom>
          <a:solidFill>
            <a:srgbClr val="48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EFF7"/>
                </a:solidFill>
                <a:latin typeface="DejaVu Sans"/>
              </a:rPr>
              <a:t>Da linguagem-fonte à batalha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CBCD0"/>
                </a:solidFill>
                <a:latin typeface="DejaVu Sans"/>
              </a:rPr>
              <a:t>COMPILER ARENA  /  COMPILADORES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4864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8CFAD"/>
                </a:solidFill>
                <a:latin typeface="DejaVu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51560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48CFAD"/>
                </a:solidFill>
                <a:latin typeface="DejaVu Sans"/>
              </a:rPr>
              <a:t>Compiler Arena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5156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E8EFF7"/>
                </a:solidFill>
                <a:latin typeface="DejaVu Sans"/>
              </a:rPr>
              <a:t>Uma linguagem. Um compilador. Robôs em execução.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10515600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ACBCD0"/>
                </a:solidFill>
                <a:latin typeface="DejaVu Sans"/>
              </a:rPr>
              <a:t>Integrantes: [preencher]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1965"/>
            <a:ext cx="10515600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ACBCD0"/>
                </a:solidFill>
                <a:latin typeface="DejaVu Sans"/>
              </a:rPr>
              <a:t>Professor(a): [preencher]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52010"/>
            <a:ext cx="10515600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ACBCD0"/>
                </a:solidFill>
                <a:latin typeface="DejaVu Sans"/>
              </a:rPr>
              <a:t>Instituição: [preencher]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411480"/>
          </a:xfrm>
          <a:prstGeom prst="rect">
            <a:avLst/>
          </a:prstGeom>
          <a:solidFill>
            <a:srgbClr val="48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EFF7"/>
                </a:solidFill>
                <a:latin typeface="DejaVu Sans"/>
              </a:rPr>
              <a:t>Objetivo e requisitos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CBCD0"/>
                </a:solidFill>
                <a:latin typeface="DejaVu Sans"/>
              </a:rPr>
              <a:t>COMPILER ARENA  /  COMPILADORES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4864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8CFAD"/>
                </a:solidFill>
                <a:latin typeface="DejaVu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3943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E8EFF7"/>
                </a:solidFill>
                <a:latin typeface="DejaVu Sans"/>
              </a:rPr>
              <a:t>• PDF: compilar, validar e executar uma linguagem de robôs.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98480" cy="3943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E8EFF7"/>
                </a:solidFill>
                <a:latin typeface="DejaVu Sans"/>
              </a:rPr>
              <a:t>• Semântica, IR, otimização e objeto são o centro do trabalho.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698480" cy="3943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E8EFF7"/>
                </a:solidFill>
                <a:latin typeface="DejaVu Sans"/>
              </a:rPr>
              <a:t>• API mínima + arena funcional + execução justa por ticks.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10698480" cy="3943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E8EFF7"/>
                </a:solidFill>
                <a:latin typeface="DejaVu Sans"/>
              </a:rPr>
              <a:t>• Extensões: tipos, escopos, JSON, GUI, testes e relatórios.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10698480" cy="3943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E8EFF7"/>
                </a:solidFill>
                <a:latin typeface="DejaVu Sans"/>
              </a:rPr>
              <a:t>• Sem exec(), eval() ou execução direta da AST.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411480"/>
          </a:xfrm>
          <a:prstGeom prst="rect">
            <a:avLst/>
          </a:prstGeom>
          <a:solidFill>
            <a:srgbClr val="48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EFF7"/>
                </a:solidFill>
                <a:latin typeface="DejaVu Sans"/>
              </a:rPr>
              <a:t>Arquitetura: a transformação é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CBCD0"/>
                </a:solidFill>
                <a:latin typeface="DejaVu Sans"/>
              </a:rPr>
              <a:t>COMPILER ARENA  /  COMPILADORES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4864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8CFAD"/>
                </a:solidFill>
                <a:latin typeface="DejaVu San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14600" cy="777240"/>
          </a:xfrm>
          <a:prstGeom prst="rect">
            <a:avLst/>
          </a:prstGeom>
          <a:solidFill>
            <a:srgbClr val="19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286000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8CFAD"/>
                </a:solidFill>
                <a:latin typeface="DejaVu Sans"/>
              </a:rPr>
              <a:t>Fonte UTF-8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874519"/>
            <a:ext cx="27432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CBCD0"/>
                </a:solidFill>
                <a:latin typeface="DejaVu Sans"/>
              </a:rP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3593591" y="1645920"/>
            <a:ext cx="2514600" cy="777240"/>
          </a:xfrm>
          <a:prstGeom prst="rect">
            <a:avLst/>
          </a:prstGeom>
          <a:solidFill>
            <a:srgbClr val="19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1874519"/>
            <a:ext cx="2286000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E8EFF7"/>
                </a:solidFill>
                <a:latin typeface="DejaVu Sans"/>
              </a:rPr>
              <a:t>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1" y="1874519"/>
            <a:ext cx="27432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CBCD0"/>
                </a:solidFill>
                <a:latin typeface="DejaVu Sans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55664" y="1645920"/>
            <a:ext cx="2514600" cy="777240"/>
          </a:xfrm>
          <a:prstGeom prst="rect">
            <a:avLst/>
          </a:prstGeom>
          <a:solidFill>
            <a:srgbClr val="19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2824" y="1874519"/>
            <a:ext cx="2286000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E8EFF7"/>
                </a:solidFill>
                <a:latin typeface="DejaVu Sans"/>
              </a:rPr>
              <a:t>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1704" y="1874519"/>
            <a:ext cx="27432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CBCD0"/>
                </a:solidFill>
                <a:latin typeface="DejaVu Sans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17736" y="1645920"/>
            <a:ext cx="2514600" cy="777240"/>
          </a:xfrm>
          <a:prstGeom prst="rect">
            <a:avLst/>
          </a:prstGeom>
          <a:solidFill>
            <a:srgbClr val="19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54896" y="1874519"/>
            <a:ext cx="2286000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E8EFF7"/>
                </a:solidFill>
                <a:latin typeface="DejaVu Sans"/>
              </a:rPr>
              <a:t>Semântica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91840"/>
            <a:ext cx="2514600" cy="777240"/>
          </a:xfrm>
          <a:prstGeom prst="rect">
            <a:avLst/>
          </a:prstGeom>
          <a:solidFill>
            <a:srgbClr val="19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520440"/>
            <a:ext cx="2286000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E8EFF7"/>
                </a:solidFill>
                <a:latin typeface="DejaVu Sans"/>
              </a:rPr>
              <a:t>IR tipada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520440"/>
            <a:ext cx="27432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CBCD0"/>
                </a:solidFill>
                <a:latin typeface="DejaVu Sans"/>
              </a:rP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93591" y="3291840"/>
            <a:ext cx="2514600" cy="777240"/>
          </a:xfrm>
          <a:prstGeom prst="rect">
            <a:avLst/>
          </a:prstGeom>
          <a:solidFill>
            <a:srgbClr val="19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0752" y="3520440"/>
            <a:ext cx="2286000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E8EFF7"/>
                </a:solidFill>
                <a:latin typeface="DejaVu Sans"/>
              </a:rPr>
              <a:t>Otimização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1" y="3520440"/>
            <a:ext cx="27432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CBCD0"/>
                </a:solidFill>
                <a:latin typeface="DejaVu Sans"/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55664" y="3291840"/>
            <a:ext cx="2514600" cy="777240"/>
          </a:xfrm>
          <a:prstGeom prst="rect">
            <a:avLst/>
          </a:prstGeom>
          <a:solidFill>
            <a:srgbClr val="19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3520440"/>
            <a:ext cx="2286000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E8EFF7"/>
                </a:solidFill>
                <a:latin typeface="DejaVu Sans"/>
              </a:rPr>
              <a:t>Bytecode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704" y="3520440"/>
            <a:ext cx="27432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CBCD0"/>
                </a:solidFill>
                <a:latin typeface="DejaVu Sans"/>
              </a:rPr>
              <a:t>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17736" y="3291840"/>
            <a:ext cx="2514600" cy="777240"/>
          </a:xfrm>
          <a:prstGeom prst="rect">
            <a:avLst/>
          </a:prstGeom>
          <a:solidFill>
            <a:srgbClr val="19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54896" y="3520440"/>
            <a:ext cx="2286000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8CFAD"/>
                </a:solidFill>
                <a:latin typeface="DejaVu Sans"/>
              </a:rPr>
              <a:t>VM / arena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486400"/>
            <a:ext cx="1005840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CBCD0"/>
                </a:solidFill>
                <a:latin typeface="DejaVu Sans"/>
              </a:rPr>
              <a:t>CLI e núcleo independem da interface gráfica.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411480"/>
          </a:xfrm>
          <a:prstGeom prst="rect">
            <a:avLst/>
          </a:prstGeom>
          <a:solidFill>
            <a:srgbClr val="48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EFF7"/>
                </a:solidFill>
                <a:latin typeface="DejaVu Sans"/>
              </a:rPr>
              <a:t>RoboLang: o robô Alpha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CBCD0"/>
                </a:solidFill>
                <a:latin typeface="DejaVu Sans"/>
              </a:rPr>
              <a:t>COMPILER ARENA  /  COMPILADORES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4864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8CFAD"/>
                </a:solidFill>
                <a:latin typeface="DejaVu San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7726679" cy="3709035"/>
          </a:xfrm>
          <a:prstGeom prst="rect">
            <a:avLst/>
          </a:prstGeom>
          <a:solidFill>
            <a:srgbClr val="19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7498079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DejaVu Sans Mono"/>
              </a:rPr>
              <a:t>robot Alpha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83055"/>
            <a:ext cx="7498079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DejaVu Sans Mono"/>
              </a:rPr>
              <a:t>    int distancia = 10 + 20;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40230"/>
            <a:ext cx="7498079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DejaVu Sans Mono"/>
              </a:rPr>
              <a:t>    move(distancia + 0);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97405"/>
            <a:ext cx="7498079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DejaVu Sans Mono"/>
              </a:rPr>
              <a:t>    while (energy &gt; 0)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54580"/>
            <a:ext cx="7498079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DejaVu Sans Mono"/>
              </a:rPr>
              <a:t>        scan();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11755"/>
            <a:ext cx="7498079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DejaVu Sans Mono"/>
              </a:rPr>
              <a:t>        if (enemy.visible)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68930"/>
            <a:ext cx="7498079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DejaVu Sans Mono"/>
              </a:rPr>
              <a:t>            rotate(enemy.direction);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26105"/>
            <a:ext cx="7498079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DejaVu Sans Mono"/>
              </a:rPr>
              <a:t>            fire(3);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7498079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DejaVu Sans Mono"/>
              </a:rPr>
              <a:t>        } else 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40455"/>
            <a:ext cx="7498079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DejaVu Sans Mono"/>
              </a:rPr>
              <a:t>            rotate(15);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97630"/>
            <a:ext cx="7498079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DejaVu Sans Mono"/>
              </a:rPr>
              <a:t>       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54805"/>
            <a:ext cx="7498079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DejaVu Sans Mono"/>
              </a:rPr>
              <a:t>   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11980"/>
            <a:ext cx="7498079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DejaVu Sans Mono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182880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CBCD0"/>
                </a:solidFill>
                <a:latin typeface="DejaVu Sans"/>
              </a:rPr>
              <a:t>Um robô por arquivo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10312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CBCD0"/>
                </a:solidFill>
                <a:latin typeface="DejaVu Sans"/>
              </a:rPr>
              <a:t>Declaração antes do uso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3774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CBCD0"/>
                </a:solidFill>
                <a:latin typeface="DejaVu Sans"/>
              </a:rPr>
              <a:t>Parênteses e chaves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65176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CBCD0"/>
                </a:solidFill>
                <a:latin typeface="DejaVu Sans"/>
              </a:rPr>
              <a:t>Comandos sem retorno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5029200"/>
            <a:ext cx="274320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8CFAD"/>
                </a:solidFill>
                <a:latin typeface="DejaVu Sans Mono"/>
              </a:rPr>
              <a:t>SHA 03e6cdfd8fc0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411480"/>
          </a:xfrm>
          <a:prstGeom prst="rect">
            <a:avLst/>
          </a:prstGeom>
          <a:solidFill>
            <a:srgbClr val="48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EFF7"/>
                </a:solidFill>
                <a:latin typeface="DejaVu Sans"/>
              </a:rPr>
              <a:t>Tipos, operadores e controle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CBCD0"/>
                </a:solidFill>
                <a:latin typeface="DejaVu Sans"/>
              </a:rPr>
              <a:t>COMPILER ARENA  /  COMPILADORES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4864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8CFAD"/>
                </a:solidFill>
                <a:latin typeface="DejaVu San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8EFF7"/>
                </a:solidFill>
                <a:latin typeface="DejaVu Sans"/>
              </a:rPr>
              <a:t>• int, float finito, bool e string Unicode.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9848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8EFF7"/>
                </a:solidFill>
                <a:latin typeface="DejaVu Sans"/>
              </a:rPr>
              <a:t>• Única promoção implícita: int para float.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69848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8EFF7"/>
                </a:solidFill>
                <a:latin typeface="DejaVu Sans"/>
              </a:rPr>
              <a:t>• Precedência: unários, produto, soma, ordem, igualdade, &amp;&amp;, ||.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1069848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8EFF7"/>
                </a:solidFill>
                <a:latin typeface="DejaVu Sans"/>
              </a:rPr>
              <a:t>• if / else if / else, while, break e continue.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1069848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8EFF7"/>
                </a:solidFill>
                <a:latin typeface="DejaVu Sans"/>
              </a:rPr>
              <a:t>• Constantes, blocos léxicos e operadores compostos.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411480"/>
          </a:xfrm>
          <a:prstGeom prst="rect">
            <a:avLst/>
          </a:prstGeom>
          <a:solidFill>
            <a:srgbClr val="48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EFF7"/>
                </a:solidFill>
                <a:latin typeface="DejaVu Sans"/>
              </a:rPr>
              <a:t>Análise léxica: caracteres →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CBCD0"/>
                </a:solidFill>
                <a:latin typeface="DejaVu Sans"/>
              </a:rPr>
              <a:t>COMPILER ARENA  /  COMPILADORES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4864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8CFAD"/>
                </a:solidFill>
                <a:latin typeface="DejaVu San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10927080" cy="2697480"/>
          </a:xfrm>
          <a:prstGeom prst="rect">
            <a:avLst/>
          </a:prstGeom>
          <a:solidFill>
            <a:srgbClr val="19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EFF7"/>
                </a:solidFill>
                <a:latin typeface="DejaVu Sans Mono"/>
              </a:rPr>
              <a:t>TIPO               LEXEMA       VALOR     POSIÇÃO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54505"/>
            <a:ext cx="1069848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EFF7"/>
                </a:solidFill>
                <a:latin typeface="DejaVu Sans Mono"/>
              </a:rPr>
              <a:t>PALAVRA_RESERVADA  int          int       3:5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45970"/>
            <a:ext cx="1069848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EFF7"/>
                </a:solidFill>
                <a:latin typeface="DejaVu Sans Mono"/>
              </a:rPr>
              <a:t>IDENTIFICADOR      distancia    distancia 3:9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7435"/>
            <a:ext cx="1069848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EFF7"/>
                </a:solidFill>
                <a:latin typeface="DejaVu Sans Mono"/>
              </a:rPr>
              <a:t>OPERADOR           =            None      3:19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28900"/>
            <a:ext cx="1069848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EFF7"/>
                </a:solidFill>
                <a:latin typeface="DejaVu Sans Mono"/>
              </a:rPr>
              <a:t>NUM_INTEIRO        10           10        3:21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0365"/>
            <a:ext cx="1069848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EFF7"/>
                </a:solidFill>
                <a:latin typeface="DejaVu Sans Mono"/>
              </a:rPr>
              <a:t>OP_SOMA            +            None      3:24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11830"/>
            <a:ext cx="1069848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EFF7"/>
                </a:solidFill>
                <a:latin typeface="DejaVu Sans Mono"/>
              </a:rPr>
              <a:t>NUM_INTEIRO        20           20        3:26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03295"/>
            <a:ext cx="1069848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EFF7"/>
                </a:solidFill>
                <a:latin typeface="DejaVu Sans Mono"/>
              </a:rPr>
              <a:t>PONTO_VIRGULA      ;            None      3:28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94960"/>
            <a:ext cx="109728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CBCD0"/>
                </a:solidFill>
                <a:latin typeface="DejaVu Sans"/>
              </a:rPr>
              <a:t>Scanner manual • comentários preservam posições • maior operador primeiro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411480"/>
          </a:xfrm>
          <a:prstGeom prst="rect">
            <a:avLst/>
          </a:prstGeom>
          <a:solidFill>
            <a:srgbClr val="48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EFF7"/>
                </a:solidFill>
                <a:latin typeface="DejaVu Sans"/>
              </a:rPr>
              <a:t>Parser recursivo e 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CBCD0"/>
                </a:solidFill>
                <a:latin typeface="DejaVu Sans"/>
              </a:rPr>
              <a:t>COMPILER ARENA  /  COMPILADORES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4864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8CFAD"/>
                </a:solidFill>
                <a:latin typeface="DejaVu San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10927080" cy="1874520"/>
          </a:xfrm>
          <a:prstGeom prst="rect">
            <a:avLst/>
          </a:prstGeom>
          <a:solidFill>
            <a:srgbClr val="19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8EFF7"/>
                </a:solidFill>
                <a:latin typeface="DejaVu Sans Mono"/>
              </a:rPr>
              <a:t>DECL [distancia] @3:5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40230"/>
            <a:ext cx="1069848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8EFF7"/>
                </a:solidFill>
                <a:latin typeface="DejaVu Sans Mono"/>
              </a:rPr>
              <a:t>  BIN [+] @3:24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17420"/>
            <a:ext cx="1069848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8EFF7"/>
                </a:solidFill>
                <a:latin typeface="DejaVu Sans Mono"/>
              </a:rPr>
              <a:t>    LITERAL [10] @3:21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94610"/>
            <a:ext cx="1069848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8EFF7"/>
                </a:solidFill>
                <a:latin typeface="DejaVu Sans Mono"/>
              </a:rPr>
              <a:t>    LITERAL [20] @3:26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29200"/>
            <a:ext cx="1097280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CBCD0"/>
                </a:solidFill>
                <a:latin typeface="DejaVu Sans"/>
              </a:rPr>
              <a:t>A forma de 10 + 20 desaparece em etapas posteriores.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411480"/>
          </a:xfrm>
          <a:prstGeom prst="rect">
            <a:avLst/>
          </a:prstGeom>
          <a:solidFill>
            <a:srgbClr val="48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EFF7"/>
                </a:solidFill>
                <a:latin typeface="DejaVu Sans"/>
              </a:rPr>
              <a:t>Semântica: nomes, tipos e escopos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CBCD0"/>
                </a:solidFill>
                <a:latin typeface="DejaVu Sans"/>
              </a:rPr>
              <a:t>COMPILER ARENA  /  COMPILADORES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4864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8CFAD"/>
                </a:solidFill>
                <a:latin typeface="DejaVu San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5257800" cy="2834640"/>
          </a:xfrm>
          <a:prstGeom prst="rect">
            <a:avLst/>
          </a:prstGeom>
          <a:solidFill>
            <a:srgbClr val="19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50292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8EFF7"/>
                </a:solidFill>
                <a:latin typeface="DejaVu Sans Mono"/>
              </a:rPr>
              <a:t>id: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80210"/>
            <a:ext cx="50292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8EFF7"/>
                </a:solidFill>
                <a:latin typeface="DejaVu Sans Mono"/>
              </a:rPr>
              <a:t>name: distancia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88819"/>
            <a:ext cx="50292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8EFF7"/>
                </a:solidFill>
                <a:latin typeface="DejaVu Sans Mono"/>
              </a:rPr>
              <a:t>type: 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97430"/>
            <a:ext cx="50292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8EFF7"/>
                </a:solidFill>
                <a:latin typeface="DejaVu Sans Mono"/>
              </a:rPr>
              <a:t>scope: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50292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8EFF7"/>
                </a:solidFill>
                <a:latin typeface="DejaVu Sans Mono"/>
              </a:rPr>
              <a:t>mutable: 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14650"/>
            <a:ext cx="50292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8EFF7"/>
                </a:solidFill>
                <a:latin typeface="DejaVu Sans Mono"/>
              </a:rPr>
              <a:t>line: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23260"/>
            <a:ext cx="50292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8EFF7"/>
                </a:solidFill>
                <a:latin typeface="DejaVu Sans Mono"/>
              </a:rPr>
              <a:t>column: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31870"/>
            <a:ext cx="50292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8EFF7"/>
                </a:solidFill>
                <a:latin typeface="DejaVu Sans Mono"/>
              </a:rPr>
              <a:t>constant: None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645920"/>
            <a:ext cx="50292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8EFF7"/>
                </a:solidFill>
                <a:latin typeface="DejaVu Sans"/>
              </a:rPr>
              <a:t>Tabela de símbolos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988820"/>
            <a:ext cx="50292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8EFF7"/>
                </a:solidFill>
                <a:latin typeface="DejaVu San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31720"/>
            <a:ext cx="50292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8EFF7"/>
                </a:solidFill>
                <a:latin typeface="DejaVu Sans"/>
              </a:rPr>
              <a:t>Cada declaração tem um ID.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74620"/>
            <a:ext cx="50292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8EFF7"/>
                </a:solidFill>
                <a:latin typeface="DejaVu Sans"/>
              </a:rPr>
              <a:t>O backend usa esse ID.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017520"/>
            <a:ext cx="50292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8EFF7"/>
                </a:solidFill>
                <a:latin typeface="DejaVu Sans"/>
              </a:rPr>
              <a:t>Tipos são validados antes da 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411480"/>
          </a:xfrm>
          <a:prstGeom prst="rect">
            <a:avLst/>
          </a:prstGeom>
          <a:solidFill>
            <a:srgbClr val="48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EFF7"/>
                </a:solidFill>
                <a:latin typeface="DejaVu Sans"/>
              </a:rPr>
              <a:t>Diagnóstico e bloqueio do inválido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CBCD0"/>
                </a:solidFill>
                <a:latin typeface="DejaVu Sans"/>
              </a:rPr>
              <a:t>COMPILER ARENA  /  COMPILADORES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4864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8CFAD"/>
                </a:solidFill>
                <a:latin typeface="DejaVu San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927080" cy="811530"/>
          </a:xfrm>
          <a:prstGeom prst="rect">
            <a:avLst/>
          </a:prstGeom>
          <a:solidFill>
            <a:srgbClr val="19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98480" cy="4457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E8EFF7"/>
                </a:solidFill>
                <a:latin typeface="DejaVu Sans Mono"/>
              </a:rPr>
              <a:t>fire(true);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106984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4A1AC"/>
                </a:solidFill>
                <a:latin typeface="DejaVu Sans"/>
              </a:rPr>
              <a:t>Erro semântico na linha 9, coluna 13: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51835"/>
            <a:ext cx="106984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4A1AC"/>
                </a:solidFill>
                <a:latin typeface="DejaVu Sans"/>
              </a:rPr>
              <a:t>fire espera int entre 1 e 3; recebido bool.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74920"/>
            <a:ext cx="1069848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48CFAD"/>
                </a:solidFill>
                <a:latin typeface="DejaVu Sans"/>
              </a:rPr>
              <a:t>Semântica: erro  |  IR: não executada  |  Bytecode: ausente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411480"/>
          </a:xfrm>
          <a:prstGeom prst="rect">
            <a:avLst/>
          </a:prstGeom>
          <a:solidFill>
            <a:srgbClr val="48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EFF7"/>
                </a:solidFill>
                <a:latin typeface="DejaVu Sans"/>
              </a:rPr>
              <a:t>IR tipada: quádruplas e saltos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CBCD0"/>
                </a:solidFill>
                <a:latin typeface="DejaVu Sans"/>
              </a:rPr>
              <a:t>COMPILER ARENA  /  COMPILADORES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4864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8CFAD"/>
                </a:solidFill>
                <a:latin typeface="DejaVu San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927080" cy="3297555"/>
          </a:xfrm>
          <a:prstGeom prst="rect">
            <a:avLst/>
          </a:prstGeom>
          <a:solidFill>
            <a:srgbClr val="19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6984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E8EFF7"/>
                </a:solidFill>
                <a:latin typeface="DejaVu Sans Mono"/>
              </a:rPr>
              <a:t>t1 = BIN:+ 10,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7355"/>
            <a:ext cx="106984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E8EFF7"/>
                </a:solidFill>
                <a:latin typeface="DejaVu Sans Mono"/>
              </a:rPr>
              <a:t>s0 = COPY t1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23110"/>
            <a:ext cx="106984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E8EFF7"/>
                </a:solidFill>
                <a:latin typeface="DejaVu Sans Mono"/>
              </a:rPr>
              <a:t>t2 = BIN:+ s0,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48865"/>
            <a:ext cx="106984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E8EFF7"/>
                </a:solidFill>
                <a:latin typeface="DejaVu Sans Mono"/>
              </a:rPr>
              <a:t>CMD:move t2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4620"/>
            <a:ext cx="106984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E8EFF7"/>
                </a:solidFill>
                <a:latin typeface="DejaVu Sans Mono"/>
              </a:rPr>
              <a:t>L1 = LABEL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00375"/>
            <a:ext cx="106984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E8EFF7"/>
                </a:solidFill>
                <a:latin typeface="DejaVu Sans Mono"/>
              </a:rPr>
              <a:t>t3 = SENSOR 'energy'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26130"/>
            <a:ext cx="106984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E8EFF7"/>
                </a:solidFill>
                <a:latin typeface="DejaVu Sans Mono"/>
              </a:rPr>
              <a:t>t4 = BIN:&gt; t3,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51885"/>
            <a:ext cx="106984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E8EFF7"/>
                </a:solidFill>
                <a:latin typeface="DejaVu Sans Mono"/>
              </a:rPr>
              <a:t>L2 = JZ t4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39"/>
            <a:ext cx="106984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E8EFF7"/>
                </a:solidFill>
                <a:latin typeface="DejaVu Sans Mono"/>
              </a:rPr>
              <a:t>CMD:scan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12080"/>
            <a:ext cx="1069848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CBCD0"/>
                </a:solidFill>
                <a:latin typeface="DejaVu Sans"/>
              </a:rPr>
              <a:t>op / arg1 / arg2 / result + tipo + linha/coluna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411480"/>
          </a:xfrm>
          <a:prstGeom prst="rect">
            <a:avLst/>
          </a:prstGeom>
          <a:solidFill>
            <a:srgbClr val="48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EFF7"/>
                </a:solidFill>
                <a:latin typeface="DejaVu Sans"/>
              </a:rPr>
              <a:t>IR original e otimizada: o mesmo Alpha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CBCD0"/>
                </a:solidFill>
                <a:latin typeface="DejaVu Sans"/>
              </a:rPr>
              <a:t>COMPILER ARENA  /  COMPILADORES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4864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8CFAD"/>
                </a:solidFill>
                <a:latin typeface="DejaVu San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50292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569CF0"/>
                </a:solidFill>
                <a:latin typeface="DejaVu Sans"/>
              </a:rPr>
              <a:t>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48CFAD"/>
                </a:solidFill>
                <a:latin typeface="DejaVu Sans"/>
              </a:rPr>
              <a:t>Otimizada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20"/>
            <a:ext cx="5074920" cy="1531620"/>
          </a:xfrm>
          <a:prstGeom prst="rect">
            <a:avLst/>
          </a:prstGeom>
          <a:solidFill>
            <a:srgbClr val="19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484632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EFF7"/>
                </a:solidFill>
                <a:latin typeface="DejaVu Sans Mono"/>
              </a:rPr>
              <a:t>t1 = BIN:+ 10,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3145"/>
            <a:ext cx="484632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EFF7"/>
                </a:solidFill>
                <a:latin typeface="DejaVu Sans Mono"/>
              </a:rPr>
              <a:t>s0 = COPY 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4610"/>
            <a:ext cx="484632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EFF7"/>
                </a:solidFill>
                <a:latin typeface="DejaVu Sans Mono"/>
              </a:rPr>
              <a:t>t2 = BIN:+ s0,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6075"/>
            <a:ext cx="484632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EFF7"/>
                </a:solidFill>
                <a:latin typeface="DejaVu Sans Mono"/>
              </a:rPr>
              <a:t>CMD:move t2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74520"/>
            <a:ext cx="5074920" cy="948690"/>
          </a:xfrm>
          <a:prstGeom prst="rect">
            <a:avLst/>
          </a:prstGeom>
          <a:solidFill>
            <a:srgbClr val="19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484632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EFF7"/>
                </a:solidFill>
                <a:latin typeface="DejaVu Sans Mono"/>
              </a:rPr>
              <a:t>s0 = COPY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03145"/>
            <a:ext cx="484632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EFF7"/>
                </a:solidFill>
                <a:latin typeface="DejaVu Sans Mono"/>
              </a:rPr>
              <a:t>CMD:move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06240"/>
            <a:ext cx="10698480" cy="3943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E8EFF7"/>
                </a:solidFill>
                <a:latin typeface="DejaVu Sans"/>
              </a:rPr>
              <a:t>Alpha completo: 21 → 19 instruções IR (9.52%).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10698480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ACBCD0"/>
                </a:solidFill>
                <a:latin typeface="DejaVu Sans"/>
              </a:rPr>
              <a:t>Trecho isolado: 5 → 3 (40%). Não é medida de tempo.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411480"/>
          </a:xfrm>
          <a:prstGeom prst="rect">
            <a:avLst/>
          </a:prstGeom>
          <a:solidFill>
            <a:srgbClr val="48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EFF7"/>
                </a:solidFill>
                <a:latin typeface="DejaVu Sans"/>
              </a:rPr>
              <a:t>Otimização: três técnicas, com limites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CBCD0"/>
                </a:solidFill>
                <a:latin typeface="DejaVu Sans"/>
              </a:rPr>
              <a:t>COMPILER ARENA  /  COMPILADORES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4864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8CFAD"/>
                </a:solidFill>
                <a:latin typeface="DejaVu San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8EFF7"/>
                </a:solidFill>
                <a:latin typeface="DejaVu Sans"/>
              </a:rPr>
              <a:t>• Constant folding: 10 + 20 torna-se COPY 30.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9848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8EFF7"/>
                </a:solidFill>
                <a:latin typeface="DejaVu Sans"/>
              </a:rPr>
              <a:t>• Simplificação algébrica: int x + 0 torna-se COPY 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69848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8EFF7"/>
                </a:solidFill>
                <a:latin typeface="DejaVu Sans"/>
              </a:rPr>
              <a:t>• Propagação de constantes dentro de blocos básicos.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1069848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8EFF7"/>
                </a:solidFill>
                <a:latin typeface="DejaVu Sans"/>
              </a:rPr>
              <a:t>• Preserva sensores, comandos, tipos e erros observáveis.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1069848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8EFF7"/>
                </a:solidFill>
                <a:latin typeface="DejaVu Sans"/>
              </a:rPr>
              <a:t>• Equivalência funcional não garante equivalência temporal.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411480"/>
          </a:xfrm>
          <a:prstGeom prst="rect">
            <a:avLst/>
          </a:prstGeom>
          <a:solidFill>
            <a:srgbClr val="48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EFF7"/>
                </a:solidFill>
                <a:latin typeface="DejaVu Sans"/>
              </a:rPr>
              <a:t>Bytecode próprio e máquina virtual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CBCD0"/>
                </a:solidFill>
                <a:latin typeface="DejaVu Sans"/>
              </a:rPr>
              <a:t>COMPILER ARENA  /  COMPILADORES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4864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8CFAD"/>
                </a:solidFill>
                <a:latin typeface="DejaVu Sans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927080" cy="2988945"/>
          </a:xfrm>
          <a:prstGeom prst="rect">
            <a:avLst/>
          </a:prstGeom>
          <a:solidFill>
            <a:srgbClr val="19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69848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EFF7"/>
                </a:solidFill>
                <a:latin typeface="DejaVu Sans Mono"/>
              </a:rPr>
              <a:t>00 COPY       [0, ['c', 'int', 30]]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3065"/>
            <a:ext cx="1069848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EFF7"/>
                </a:solidFill>
                <a:latin typeface="DejaVu Sans Mono"/>
              </a:rPr>
              <a:t>01 CMD:move   [['c', 'int', 30]]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54530"/>
            <a:ext cx="1069848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EFF7"/>
                </a:solidFill>
                <a:latin typeface="DejaVu Sans Mono"/>
              </a:rPr>
              <a:t>02 SENSOR     [1, ['c', 'string', 'energy']]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45995"/>
            <a:ext cx="1069848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EFF7"/>
                </a:solidFill>
                <a:latin typeface="DejaVu Sans Mono"/>
              </a:rPr>
              <a:t>03 BIN:&gt;      [2, ['r', 1], ['c', 'int', 0]]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37460"/>
            <a:ext cx="1069848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EFF7"/>
                </a:solidFill>
                <a:latin typeface="DejaVu Sans Mono"/>
              </a:rPr>
              <a:t>04 JZ         [['r', 2], 14]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28925"/>
            <a:ext cx="1069848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EFF7"/>
                </a:solidFill>
                <a:latin typeface="DejaVu Sans Mono"/>
              </a:rPr>
              <a:t>05 CMD:scan   []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20390"/>
            <a:ext cx="1069848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EFF7"/>
                </a:solidFill>
                <a:latin typeface="DejaVu Sans Mono"/>
              </a:rPr>
              <a:t>06 SENSOR     [3, ['c', 'string', 'enemy.visible']]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11855"/>
            <a:ext cx="1069848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EFF7"/>
                </a:solidFill>
                <a:latin typeface="DejaVu Sans Mono"/>
              </a:rPr>
              <a:t>07 JZ         [['r', 3], 12]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03320"/>
            <a:ext cx="1069848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EFF7"/>
                </a:solidFill>
                <a:latin typeface="DejaVu Sans Mono"/>
              </a:rPr>
              <a:t>08 SENSOR     [4, ['c', 'string', 'enemy.direction']]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12080"/>
            <a:ext cx="1069848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CBCD0"/>
                </a:solidFill>
                <a:latin typeface="DejaVu Sans"/>
              </a:rPr>
              <a:t>JSON validado • registradores isolados • PC persistente • sem AST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411480"/>
          </a:xfrm>
          <a:prstGeom prst="rect">
            <a:avLst/>
          </a:prstGeom>
          <a:solidFill>
            <a:srgbClr val="48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EFF7"/>
                </a:solidFill>
                <a:latin typeface="DejaVu Sans"/>
              </a:rPr>
              <a:t>Ticks: orçamento e ações simultâneas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CBCD0"/>
                </a:solidFill>
                <a:latin typeface="DejaVu Sans"/>
              </a:rPr>
              <a:t>COMPILER ARENA  /  COMPILADORES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4864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8CFAD"/>
                </a:solidFill>
                <a:latin typeface="DejaVu San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8EFF7"/>
                </a:solidFill>
                <a:latin typeface="DejaVu Sans"/>
              </a:rPr>
              <a:t>• 1  Snapshot: posições, energia e último scan.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9848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8EFF7"/>
                </a:solidFill>
                <a:latin typeface="DejaVu Sans"/>
              </a:rPr>
              <a:t>• 2  VMs: orçamento por robô; até um comando por tick.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69848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8EFF7"/>
                </a:solidFill>
                <a:latin typeface="DejaVu Sans"/>
              </a:rPr>
              <a:t>• 3  Ações: movimento, rotação, scan e tiro.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1069848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8EFF7"/>
                </a:solidFill>
                <a:latin typeface="DejaVu Sans"/>
              </a:rPr>
              <a:t>• 4  Custos e dano simultâneos; eliminação.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1069848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8EFF7"/>
                </a:solidFill>
                <a:latin typeface="DejaVu Sans"/>
              </a:rPr>
              <a:t>• 5  Novo estado; scan publicado para o próximo tick.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9848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8CFAD"/>
                </a:solidFill>
                <a:latin typeface="DejaVu Sans"/>
              </a:rPr>
              <a:t>Loop infinito sem comando pausa ao esgotar o orçamento.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411480"/>
          </a:xfrm>
          <a:prstGeom prst="rect">
            <a:avLst/>
          </a:prstGeom>
          <a:solidFill>
            <a:srgbClr val="48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EFF7"/>
                </a:solidFill>
                <a:latin typeface="DejaVu Sans"/>
              </a:rPr>
              <a:t>Editor: etapas reais e fonte identificada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CBCD0"/>
                </a:solidFill>
                <a:latin typeface="DejaVu Sans"/>
              </a:rPr>
              <a:t>COMPILER ARENA  /  COMPILADORES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4864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8CFAD"/>
                </a:solidFill>
                <a:latin typeface="DejaVu Sans"/>
              </a:rPr>
              <a:t>15</a:t>
            </a:r>
          </a:p>
        </p:txBody>
      </p:sp>
      <p:pic>
        <p:nvPicPr>
          <p:cNvPr id="6" name="Picture 5" descr="ed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80160"/>
            <a:ext cx="10515600" cy="49363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411480"/>
          </a:xfrm>
          <a:prstGeom prst="rect">
            <a:avLst/>
          </a:prstGeom>
          <a:solidFill>
            <a:srgbClr val="48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EFF7"/>
                </a:solidFill>
                <a:latin typeface="DejaVu Sans"/>
              </a:rPr>
              <a:t>Arena: uma única fonte de verdade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CBCD0"/>
                </a:solidFill>
                <a:latin typeface="DejaVu Sans"/>
              </a:rPr>
              <a:t>COMPILER ARENA  /  COMPILADORES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4864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8CFAD"/>
                </a:solidFill>
                <a:latin typeface="DejaVu Sans"/>
              </a:rPr>
              <a:t>16</a:t>
            </a:r>
          </a:p>
        </p:txBody>
      </p:sp>
      <p:pic>
        <p:nvPicPr>
          <p:cNvPr id="6" name="Picture 5" descr="are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1188720"/>
            <a:ext cx="7680960" cy="46388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080760"/>
            <a:ext cx="106984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8CFAD"/>
                </a:solidFill>
                <a:latin typeface="DejaVu Sans"/>
              </a:rPr>
              <a:t>Execução de referência: Alpha venceu no tick 10.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411480"/>
          </a:xfrm>
          <a:prstGeom prst="rect">
            <a:avLst/>
          </a:prstGeom>
          <a:solidFill>
            <a:srgbClr val="48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EFF7"/>
                </a:solidFill>
                <a:latin typeface="DejaVu Sans"/>
              </a:rPr>
              <a:t>Testes e demonstração integrada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CBCD0"/>
                </a:solidFill>
                <a:latin typeface="DejaVu Sans"/>
              </a:rPr>
              <a:t>COMPILER ARENA  /  COMPILADORES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4864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8CFAD"/>
                </a:solidFill>
                <a:latin typeface="DejaVu San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6984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48CFAD"/>
                </a:solidFill>
                <a:latin typeface="DejaVu Sans"/>
              </a:rPr>
              <a:t>45 testes / 0.862 s /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698480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E8EFF7"/>
                </a:solidFill>
                <a:latin typeface="DejaVu Sans"/>
              </a:rPr>
              <a:t>• Léxico → parser → semântica → IR → VM → arena.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39"/>
            <a:ext cx="10698480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E8EFF7"/>
                </a:solidFill>
                <a:latin typeface="DejaVu Sans"/>
              </a:rPr>
              <a:t>• Curto-circuito, escopos, erros, orçamento e simultaneidade.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698480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E8EFF7"/>
                </a:solidFill>
                <a:latin typeface="DejaVu Sans"/>
              </a:rPr>
              <a:t>• Teste gráfico: editor, revisão do texto, HTTP, passo e reinício.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698480" cy="36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E8EFF7"/>
                </a:solidFill>
                <a:latin typeface="DejaVu Sans"/>
              </a:rPr>
              <a:t>• Ao vivo: erro semântico → correção → IR → bytecode → batalha.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411480"/>
          </a:xfrm>
          <a:prstGeom prst="rect">
            <a:avLst/>
          </a:prstGeom>
          <a:solidFill>
            <a:srgbClr val="48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EFF7"/>
                </a:solidFill>
                <a:latin typeface="DejaVu Sans"/>
              </a:rPr>
              <a:t>Limitações e evoluções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CBCD0"/>
                </a:solidFill>
                <a:latin typeface="DejaVu Sans"/>
              </a:rPr>
              <a:t>COMPILER ARENA  /  COMPILADORES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4864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8CFAD"/>
                </a:solidFill>
                <a:latin typeface="DejaVu San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512064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48CFAD"/>
                </a:solidFill>
                <a:latin typeface="DejaVu Sans"/>
              </a:rPr>
              <a:t>Implementado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512064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8EFF7"/>
                </a:solidFill>
                <a:latin typeface="DejaVu Sans"/>
              </a:rPr>
              <a:t>Cadeia completa e inspecionável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37460"/>
            <a:ext cx="512064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8EFF7"/>
                </a:solidFill>
                <a:latin typeface="DejaVu Sans"/>
              </a:rPr>
              <a:t>CLI + editor + arena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512064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8EFF7"/>
                </a:solidFill>
                <a:latin typeface="DejaVu Sans"/>
              </a:rPr>
              <a:t>Testes e exportação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23260"/>
            <a:ext cx="512064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8EFF7"/>
                </a:solidFill>
                <a:latin typeface="DejaVu Sans"/>
              </a:rPr>
              <a:t>Slides gerados dos artefatos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12064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569CF0"/>
                </a:solidFill>
                <a:latin typeface="DejaVu Sans"/>
              </a:rPr>
              <a:t>Limites / próximos passos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12064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8EFF7"/>
                </a:solidFill>
                <a:latin typeface="DejaVu Sans"/>
              </a:rPr>
              <a:t>Sem funções ou propagação global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37460"/>
            <a:ext cx="512064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8EFF7"/>
                </a:solidFill>
                <a:latin typeface="DejaVu Sans"/>
              </a:rPr>
              <a:t>Scan pode ficar desatualizado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512064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8EFF7"/>
                </a:solidFill>
                <a:latin typeface="DejaVu Sans"/>
              </a:rPr>
              <a:t>Tiros instantâneos, sem projéteis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23260"/>
            <a:ext cx="512064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8EFF7"/>
                </a:solidFill>
                <a:latin typeface="DejaVu Sans"/>
              </a:rPr>
              <a:t>Teste web local: Chromium / Linux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94960"/>
            <a:ext cx="10698480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CBCD0"/>
                </a:solidFill>
                <a:latin typeface="DejaVu Sans"/>
              </a:rPr>
              <a:t>A defesa deve explicar as transformações, não só a batalha.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